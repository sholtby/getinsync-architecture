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88"/>
    <p:restoredTop sz="94610"/>
  </p:normalViewPr>
  <p:slideViewPr>
    <p:cSldViewPr snapToGrid="0" snapToObjects="1">
      <p:cViewPr varScale="1">
        <p:scale>
          <a:sx n="183" d="100"/>
          <a:sy n="183" d="100"/>
        </p:scale>
        <p:origin x="20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0573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GetInSync NextGen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What's Next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City of Garland  |  April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getinsync.ca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Input Shapes What Ships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in an active development window right now. Your participation helps us validate what we've built and prioritize what comes next.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11680" y="14630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for a half-day workshop where we walk through your portfolio data in NextGen together. Confirm the cost model, portfolio isolation, and contract tracking work the way you need them to.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11680" y="2468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directly shapes feature priority. Budget cycle management, vendor reporting, assessment delegation — tell us what matters most to you.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34747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has a proven migration path. When you're ready, the transition is a migration — not a restart. Your investment is preserved.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book a half-day onsite workshop.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in NextGen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platform built on everything we learned from the original.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capability, we'll show you two slides. The first describes what NextGen delivers. The second puts it side-by-side with what you have today.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749040" cy="274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749040" cy="2743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37490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total cost field with no timeframe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2194560"/>
            <a:ext cx="37490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budgets, vendor rollups, contract lifecycle, IT Spend dashboard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&amp; Contract Management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0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tracked, every contract managed, every vendor visible.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&amp; Controlled Sharing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3044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department gets its own secure environment. The Police department sees only their applications. HR sees only theirs.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346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Framework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0" y="33467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business questions, fourteen technical questions. TIME, PAID, and Criticality built in.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6484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Portfolio Intelligence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0" y="36484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English. Get answers from your live data.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950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&amp; Lifecycle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0" y="3950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end-of-life tracking — out of the box, not manual.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Access Controls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identity, full audit trails, data residency by design.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553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CSDM-Ready Data Model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follows an industry-standard service data model.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&amp; Contract Management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dollar needs a home and an owner."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944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 Tracking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66160" y="1280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application spending across fiscal years. Prior-year comparisons provide context for budget planning and variance analysis.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17519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Cycle Management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661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application costs to your fiscal calendar. Plan renewals, flag budget overruns before they happen.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45745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Spend Rollups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6616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 per vendor across your entire portfolio. No more consolidating spreadsheets from multiple departments.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014799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Lifecycle Tracking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616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reference, start/end dates, renewal notice windows. Expiry dashboard with status badges — expired, renewal due, expiring soon.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5721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Spend 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Filter-responsive KPIs by portfolio, vendor, lifecycle status. Drill into any number to see the applications behind it.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07207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Double-Count Safeguards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application follows one cost path. Warning prompts when mixing IT Service and Cost Bundle attribution on the same app.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75188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your actual cost data in the onsite workshop.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field with no timeframe — no annual budget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 tracking with prior-year comparisons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fiscal year alignment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cycle management aligned to your fiscal calendar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vendor-level rollups — costs on individual apps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spend rollups across the entire portfolio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 tracking — no dates, no renewal windows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lifecycle with dates, renewal notices, expiry dashboard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dashboard — manual spreadsheet consolidation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8912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Spend dashboard with filter-responsive KPIs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tech costs double-counted on applications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9768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8912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cost channels with double-count safeguards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are estimates with no workspace allocation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9768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38912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attributed to a workspace, vendor, and owner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4665617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your actual cost data in the onsite workshop.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&amp; Controlled Sharing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Police department logs in, they see only their applications — CAD, records management, body cameras. No scrolling past HR or Finance.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859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sees a dashboard with only the applications that matter to them.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autonomy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2608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division operates independently — assessments, contacts, costs. A mini-GetInSync per division.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499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24231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— if you're not a member, the data doesn't exist to you. Not hidden — absent.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012077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 unchanged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29260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each Workspace, portfolios group and report on applications the same way.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Groups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3429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publishes shared apps (M365, network). Other divisions consume them — one record, no duplication.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9852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views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26080" y="3931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all portfolios for reporting — without breaking isolation.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your input on naming your workspaces.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users see all applications in one pool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gets its own Workspace — a mini-GetInSync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isolation — Police scrolls past Finance and HR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noise — dashboard shows only your Workspace apps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curtaining — access is all-or-nothing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— not a member? Data doesn't exist to you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applications duplicated across portfolios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Groups — publish once, consume across divisions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your input on naming your workspaces.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Framework — TIME, PAID &amp; Criticality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business questions. Fourteen technical questions. Two frameworks. Criticality isn't an afterthought — it's baked in.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773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Health vs Business Fit — Tolerate, Invest, Modernize, Eliminate.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should we do with this application?"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379617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(new)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vs Tech Risk — Plan, Address, Improve, Divest.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urgently do we need to act?"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18897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is derived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manual field. Comes directly from business assessment scores — no manual tagging, no subjective override.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955869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 decides what matters most. Factor weights and quadrant thresholds adjustable at the organizational level.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an assessment live — 24 questions, two actionable quadrants.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Assessment Produces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and quantification — not just what to do, but what it costs.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Quadrant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371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do with this application?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Tolerate it, Invest in it, Modernize it, or Eliminate it.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400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Quadrant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21945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urgently do we need to act?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it, Address it, Improve it, or Divest from 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7348" y="3261359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cost to keep this application running today?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and recurring costs attributed to each application.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348" y="40462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3840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it cost to modernize or remediate?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required to move from "tolerate" to "invest."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69391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your portfolio plotted in both quadrants, with run rate and tech debt included.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framework only (B1–B10, T01–T15)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PAID — two frameworks from the same 24 questions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framework — no urgency signal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answers "how urgently do we need to act?"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is a manual field — subjective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derived from business scores — no manual tagging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factor weights for everyone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weights and thresholds per organization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quadrant only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8912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PAID quadrants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rate calculation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9768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8912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Rate — what it costs to keep running today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tech debt quantification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9768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38912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 — what it would cost to modernize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3694176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36941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without quantification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97680" y="3694176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389120" y="36941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+ quantification — what, how urgent, what it costs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an assessment live — 24 questions, two actionable quadrants.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Portfolio Intelligence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building reports. Start asking questions.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are we spending on databases across all departments?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vendor spend across IT Services and Cost Bundles, rolls up by vendor.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8013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contracts expire in the next 90 days?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contract lifecycle data, flags renewals due by date range.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4414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our total IT spend by workspace?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cost data across both cost channels, grouped by portfolio.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30815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me applications with end-of-support technology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337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technology tags with lifecycle reference dates.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72160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vendors have the most applications?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application-to-vendor relationships across the entire portfolio.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44119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runs against your live data — not a static export. Answers in seconds, not days.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691743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queries live against your portfolio in the demo.  Run AI Evals as required.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filtering and report building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 — answers in seconds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AI capability on “auto fill”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AI tools query costs, vendors, contracts, technology, and portfolio data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exports for analysis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runs against live data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queries live against your portfolio in the demo.  Run AI Evals as required.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&amp; Lifecycle Intelligence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 service that runs out of the box — tag your technology, and NextGen does the rest.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Tag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3716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database, OS, runtime, or web server on each application.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We Match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7830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lifecycle lookup — EOL, EOS, support dates from 76+ vendor references.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945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highlights applications running on end-of-support technology.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606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modernization using risk data that's always up to date.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3200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Pre-loaded with 76+ vendor lifecycle references. AI-assisted lookup when data doesn't exist. Similar services (Flexera, Snow) typically cost $20K–$100K+/year. Included with NextGen.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Dashboard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lifecycle status, vendor, or category. Spot end-of-support exposure at a glance.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Intelligence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42062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implied technology standards from your deployments. Assert them or flag deviations.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which of your applications are running on end-of-support technology — detected automatically.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lifecycle tracking — someone looks it up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lookup from 76+ pre-loaded vendor references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end-of-life database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EOL/EOS dates with days-to-expiry computed automatically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technology health dashboard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lifecycle status, vendor, or category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standards detection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Intelligence — implied standards from what's deployed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which of your applications are running on end-of-support technology — detected automatically.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Access Controls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built into every layer — not bolted on after the fact.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26301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OAuth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651760" y="1371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and Google OAuth with Entra ID. Authenticate with the identity provider you trust.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901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SOC2-Ready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SOC2 Type II compliance. One-command evidence generation. Audit-ready from day one.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4389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lives where you need it. Canada today. US and EU on demand.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85951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28803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logged with user, timestamp, before/after state. Searchable with CSV export.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levels per workspace: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749040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 Full control over portfolio, users, settings.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95020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Editor:  Create and modify applications, assessments, costs. Current path for app owners.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4151376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(Q2):  Per-application scoping. Invite owners to assess only their apps.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4352544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Viewer:  Read-only across the portfolio.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455371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(Q2):  Read-only, limited to assigned applications only.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 your identity provider requirements and plan who gets invited first.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Access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and password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OAuth with Microsoft Entra ID and Google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logged with user, timestamp, before/after state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access — admin or user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levels — Admin, Editor, Steward, Viewer, Restricted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residency controls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by Design — Canada today, US/EU on demand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668675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 your identity provider requirements and plan who gets invited first.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CSDM-Ready Data Model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follows an industry-standard Common Service Data Model — structured for ITSM integration from the moment you enter it.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Business Service, Technical Service, and Deployment entities follow the CSDM. Structured to integrate with any CSDM-compliant ITSM platform.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Data, Ready to Integrate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you're ready, your data migrates cleanly. No transformation scripts. No consulting engagement. GetInSync is the on-ramp.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Managed Catalogs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 (14 types), Software Product (12 categories), Technology Product (16 categories). Structured reference data keeps your portfolio consistent.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the new structure; we'll show you the mapping.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application records — no service model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CSDM-aligned — Application, Business Service, Technical Service, Deployment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managed catalogs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catalogs — IT Service (14), Software Product (12), Technology Product (16)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ITSM integration path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structured for any CSDM-compliant ITSM platform from day one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the new structure; we'll show you the mapping.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2303</Words>
  <Application>Microsoft Macintosh PowerPoint</Application>
  <PresentationFormat>On-screen Show (16:9)</PresentationFormat>
  <Paragraphs>279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GetInSync NextGen — City of Garland</dc:title>
  <dc:subject>PptxGenJS Presentation</dc:subject>
  <dc:creator>Stuart Holtby</dc:creator>
  <cp:lastModifiedBy>Stuart Holtby</cp:lastModifiedBy>
  <cp:revision>3</cp:revision>
  <dcterms:created xsi:type="dcterms:W3CDTF">2026-04-14T15:39:52Z</dcterms:created>
  <dcterms:modified xsi:type="dcterms:W3CDTF">2026-04-14T19:26:23Z</dcterms:modified>
</cp:coreProperties>
</file>