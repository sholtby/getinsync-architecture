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64"/>
    <p:restoredTop sz="94610"/>
  </p:normalViewPr>
  <p:slideViewPr>
    <p:cSldViewPr snapToGrid="0" snapToObjects="1">
      <p:cViewPr varScale="1">
        <p:scale>
          <a:sx n="147" d="100"/>
          <a:sy n="147" d="100"/>
        </p:scale>
        <p:origin x="448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05736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GetInSync NextGen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22860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What's Next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3200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the City of Garland  |  April 2026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4389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getinsync.ca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Input Shapes What Ships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in an active development window right now. Your participation helps us validate what we've built and prioritize what comes next.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011680" y="146304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us for a half-day workshop where we walk through your portfolio data in NextGen together. Confirm the cost model, portfolio isolation, and contract tracking work the way you need them to.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26517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011680" y="246888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feedback directly shapes feature priority. Budget cycle management, vendor reporting, assessment delegation — tell us what matters most to you.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36576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Live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011680" y="347472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application data has a proven migration path. When you're ready, the transition is a migration — not a restart. Your investment is preserved.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4800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book a half-day onsite workshop.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04672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New in NextGen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platform built on everything we learned from the original.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capability, we'll show you two slides. The first describes what NextGen delivers. The second puts it side-by-side with what you have today.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3749040" cy="27432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Have Today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297680" y="1920240"/>
            <a:ext cx="3749040" cy="2743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389120" y="19202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NextGen Delivers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2194560"/>
            <a:ext cx="3749040" cy="274320"/>
          </a:xfrm>
          <a:prstGeom prst="rect">
            <a:avLst/>
          </a:prstGeom>
          <a:solidFill>
            <a:srgbClr val="F9FAFB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21945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total cost field with no timeframe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297680" y="2194560"/>
            <a:ext cx="3749040" cy="274320"/>
          </a:xfrm>
          <a:prstGeom prst="rect">
            <a:avLst/>
          </a:prstGeom>
          <a:solidFill>
            <a:srgbClr val="F9FAFB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389120" y="21945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Multi-year budgets, vendor rollups, contract lifecycle, IT Spend dashboard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8640" y="27432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Intelligence &amp; Contract Management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840480" y="27432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dollar tracked, every contract managed, every vendor visible.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48640" y="3044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Isolation &amp; Controlled Sharing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840480" y="304495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city department gets its own secure environment. The Police department sees only their applications. HR sees only theirs.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48640" y="334670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Framework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840480" y="334670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business questions, fourteen technical questions. TIME, PAID, and Criticality built in.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48640" y="364845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Portfolio Intelligence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840480" y="364845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questions in plain English. Get answers from your live data.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48640" y="39502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Health &amp; Lifecycle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840480" y="395020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AI-augmented end-of-life tracking — out of the box, not manual.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48640" y="4251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Security, Compliance &amp; Access Controls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840480" y="42519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identity, full audit trails, data residency by design.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48640" y="45537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CSDM-Ready Data Model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840480" y="455371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application data follows an industry-standard service data model.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04672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Intelligence &amp; Contract Management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"Every dollar needs a home and an owner."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39446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Multi-Year Budget Tracking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566160" y="12801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application spending across fiscal years. Prior-year comparisons provide context for budget planning and variance analysis.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917519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Cycle Management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566160" y="18288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application costs to your fiscal calendar. Plan renewals, flag budget overruns before they happen.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245745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Spend Rollups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566160" y="23774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spend per vendor across your entire portfolio. No more consolidating spreadsheets from multiple departments.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3014799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Lifecycle Tracking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566160" y="29260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reference, start/end dates, renewal notice windows. Expiry dashboard with status badges — expired, renewal due, expiring soon.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357214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Spend Dashboard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566160" y="34747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Filter-responsive KPIs by portfolio, vendor, lifecycle status. Drill into any number to see the applications behind it.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4072074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Double-Count Safeguards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566160" y="40233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application follows one cost path. Warning prompts when mixing IT Service and Cost Bundle attribution on the same app.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475188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We'll walk through your actual cost data in the live demo.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04672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Intelligence — Today vs NextGen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3749040" cy="347472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Have Today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297680" y="914400"/>
            <a:ext cx="3749040" cy="34747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389120" y="91440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NextGen Delivers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261872"/>
            <a:ext cx="3749040" cy="347472"/>
          </a:xfrm>
          <a:prstGeom prst="rect">
            <a:avLst/>
          </a:prstGeom>
          <a:solidFill>
            <a:srgbClr val="F9FAFB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26187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cost field with no timeframe — no annual budget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297680" y="1261872"/>
            <a:ext cx="3749040" cy="347472"/>
          </a:xfrm>
          <a:prstGeom prst="rect">
            <a:avLst/>
          </a:prstGeom>
          <a:solidFill>
            <a:srgbClr val="F9FAFB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389120" y="126187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Multi-year budget tracking with prior-year comparisons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1609344"/>
            <a:ext cx="37490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160934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fiscal year alignment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297680" y="1609344"/>
            <a:ext cx="37490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389120" y="160934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cycle management aligned to your fiscal calendar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8640" y="1956816"/>
            <a:ext cx="3749040" cy="347472"/>
          </a:xfrm>
          <a:prstGeom prst="rect">
            <a:avLst/>
          </a:prstGeom>
          <a:solidFill>
            <a:srgbClr val="F9FAFB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" y="195681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vendor-level rollups — costs on individual apps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97680" y="1956816"/>
            <a:ext cx="3749040" cy="347472"/>
          </a:xfrm>
          <a:prstGeom prst="rect">
            <a:avLst/>
          </a:prstGeom>
          <a:solidFill>
            <a:srgbClr val="F9FAFB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389120" y="195681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spend rollups across the entire portfolio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8640" y="2304288"/>
            <a:ext cx="37490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080" y="230428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contract tracking — no dates, no renewal windows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297680" y="2304288"/>
            <a:ext cx="37490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389120" y="230428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lifecycle with dates, renewal notices, expiry dashboard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8640" y="2651760"/>
            <a:ext cx="3749040" cy="347472"/>
          </a:xfrm>
          <a:prstGeom prst="rect">
            <a:avLst/>
          </a:prstGeom>
          <a:solidFill>
            <a:srgbClr val="F9FAFB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40080" y="265176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cost dashboard — manual spreadsheet consolidation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297680" y="2651760"/>
            <a:ext cx="3749040" cy="347472"/>
          </a:xfrm>
          <a:prstGeom prst="rect">
            <a:avLst/>
          </a:prstGeom>
          <a:solidFill>
            <a:srgbClr val="F9FAFB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389120" y="265176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Spend dashboard with filter-responsive KPIs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48640" y="2999232"/>
            <a:ext cx="37490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40080" y="299923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tech costs double-counted on applications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297680" y="2999232"/>
            <a:ext cx="37490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389120" y="299923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cost channels with double-count safeguards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48640" y="3346704"/>
            <a:ext cx="3749040" cy="347472"/>
          </a:xfrm>
          <a:prstGeom prst="rect">
            <a:avLst/>
          </a:prstGeom>
          <a:solidFill>
            <a:srgbClr val="F9FAFB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40080" y="334670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Costs are estimates with no workspace allocation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297680" y="3346704"/>
            <a:ext cx="3749040" cy="347472"/>
          </a:xfrm>
          <a:prstGeom prst="rect">
            <a:avLst/>
          </a:prstGeom>
          <a:solidFill>
            <a:srgbClr val="F9FAFB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389120" y="334670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dollar attributed to a workspace, vendor, and owner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48640" y="4665617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We'll walk through your actual cost data in the live demo.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04672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Isolation &amp; Controlled Sharing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Police department logs in, they see only their applications — CAD, records management, body cameras. No scrolling past HR or Finance.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4859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noise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926080" y="141732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user sees a dashboard with only the applications that matter to them.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autonomy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926080" y="192024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division operates independently — assessments, contacts, costs. A mini-GetInSync per division.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24993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Database-enforced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926080" y="242316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Level Security — if you're not a member, the data doesn't exist to you. Not hidden — absent.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3012077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Portfolios unchanged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926080" y="292608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each Workspace, portfolios group and report on applications the same way.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35204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 Groups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926080" y="342900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publishes shared apps (M365, network). Other divisions consume them — one record, no duplication.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39852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views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926080" y="393192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 all portfolios for reporting — without breaking isolation.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4663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We'd like your input on naming your workspaces.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04672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Isolation — Today vs NextGen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3749040" cy="347472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Have Today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297680" y="914400"/>
            <a:ext cx="3749040" cy="34747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389120" y="91440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NextGen Delivers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261872"/>
            <a:ext cx="3749040" cy="347472"/>
          </a:xfrm>
          <a:prstGeom prst="rect">
            <a:avLst/>
          </a:prstGeom>
          <a:solidFill>
            <a:srgbClr val="F9FAFB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26187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users see all applications in one pool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297680" y="1261872"/>
            <a:ext cx="3749040" cy="347472"/>
          </a:xfrm>
          <a:prstGeom prst="rect">
            <a:avLst/>
          </a:prstGeom>
          <a:solidFill>
            <a:srgbClr val="F9FAFB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389120" y="126187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department gets its own Workspace — a mini-GetInSync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1609344"/>
            <a:ext cx="37490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160934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isolation — Police scrolls past Finance and HR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297680" y="1609344"/>
            <a:ext cx="37490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389120" y="160934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noise — dashboard shows only your Workspace apps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8640" y="1956816"/>
            <a:ext cx="3749040" cy="347472"/>
          </a:xfrm>
          <a:prstGeom prst="rect">
            <a:avLst/>
          </a:prstGeom>
          <a:solidFill>
            <a:srgbClr val="F9FAFB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" y="195681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curtaining — access is all-or-nothing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97680" y="1956816"/>
            <a:ext cx="3749040" cy="347472"/>
          </a:xfrm>
          <a:prstGeom prst="rect">
            <a:avLst/>
          </a:prstGeom>
          <a:solidFill>
            <a:srgbClr val="F9FAFB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389120" y="195681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Level Security — not a member? Data doesn't exist to you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8640" y="2304288"/>
            <a:ext cx="37490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080" y="230428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applications duplicated across portfolios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297680" y="2304288"/>
            <a:ext cx="37490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389120" y="230428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 Groups — publish once, consume across divisions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8640" y="4800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We'd like your input on naming your workspaces.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04672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Framework — TIME, PAID &amp; Criticality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business questions. Fourteen technical questions. Two frameworks. Criticality isn't an afterthought — it's baked in.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5773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926080" y="146304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Health vs Business Fit — Tolerate, Invest, Modernize, Eliminate.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should we do with this application?"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2379617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(new)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926080" y="224028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Criticality vs Tech Risk — Plan, Address, Improve, Divest.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urgently do we need to act?"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31775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Criticality is derived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926080" y="301752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manual field. Comes directly from business assessment scores — no manual tagging, no subjective override.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3955869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926080" y="379476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organization decides what matters most. Factor weights and quadrant thresholds adjustable at the organizational level.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4800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We'll walk through an assessment live — 24 questions, two actionable quadrants.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04672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Assessment Produces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and quantification — not just what to do, but what it costs.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Quadrant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926080" y="137160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should we do with this application?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Tolerate it, Invest in it, Modernize it, or Eliminate it.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24003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Quadrant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926080" y="219456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urgently do we need to act?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for it, Address it, Improve it, or Divest from it.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57348" y="3261359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Rate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926080" y="301752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it cost to keep this application running today?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and recurring costs attributed to each application.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57348" y="40462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Debt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926080" y="384048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it cost to modernize or remediate?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investment required to move from "tolerate" to "invest."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469391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We'll show you your portfolio plotted in both quadrants, with run rate and tech debt included.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04672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18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— Today vs NextGen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3749040" cy="347472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Have Today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297680" y="914400"/>
            <a:ext cx="3749040" cy="34747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389120" y="91440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NextGen Delivers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261872"/>
            <a:ext cx="3749040" cy="347472"/>
          </a:xfrm>
          <a:prstGeom prst="rect">
            <a:avLst/>
          </a:prstGeom>
          <a:solidFill>
            <a:srgbClr val="F9FAFB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26187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framework only (B1–B10, T01–T15)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297680" y="1261872"/>
            <a:ext cx="3749040" cy="347472"/>
          </a:xfrm>
          <a:prstGeom prst="rect">
            <a:avLst/>
          </a:prstGeom>
          <a:solidFill>
            <a:srgbClr val="F9FAFB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389120" y="126187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+ PAID — two frameworks from the same 24 questions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1609344"/>
            <a:ext cx="37490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160934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PAID framework — no urgency signal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297680" y="1609344"/>
            <a:ext cx="37490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389120" y="160934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answers "how urgently do we need to act?"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8640" y="1956816"/>
            <a:ext cx="3749040" cy="347472"/>
          </a:xfrm>
          <a:prstGeom prst="rect">
            <a:avLst/>
          </a:prstGeom>
          <a:solidFill>
            <a:srgbClr val="F9FAFB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" y="195681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Criticality is a manual field — subjective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97680" y="1956816"/>
            <a:ext cx="3749040" cy="347472"/>
          </a:xfrm>
          <a:prstGeom prst="rect">
            <a:avLst/>
          </a:prstGeom>
          <a:solidFill>
            <a:srgbClr val="F9FAFB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389120" y="195681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Criticality derived from business scores — no manual tagging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8640" y="2304288"/>
            <a:ext cx="37490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080" y="230428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factor weights for everyone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297680" y="2304288"/>
            <a:ext cx="37490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389120" y="230428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weights and thresholds per organization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8640" y="2651760"/>
            <a:ext cx="3749040" cy="347472"/>
          </a:xfrm>
          <a:prstGeom prst="rect">
            <a:avLst/>
          </a:prstGeom>
          <a:solidFill>
            <a:srgbClr val="F9FAFB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40080" y="265176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quadrant only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297680" y="2651760"/>
            <a:ext cx="3749040" cy="347472"/>
          </a:xfrm>
          <a:prstGeom prst="rect">
            <a:avLst/>
          </a:prstGeom>
          <a:solidFill>
            <a:srgbClr val="F9FAFB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389120" y="265176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+ PAID quadrants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48640" y="2999232"/>
            <a:ext cx="37490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40080" y="299923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run rate calculation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297680" y="2999232"/>
            <a:ext cx="37490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389120" y="299923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Rate — what it costs to keep running today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48640" y="3346704"/>
            <a:ext cx="3749040" cy="347472"/>
          </a:xfrm>
          <a:prstGeom prst="rect">
            <a:avLst/>
          </a:prstGeom>
          <a:solidFill>
            <a:srgbClr val="F9FAFB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40080" y="334670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tech debt quantification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297680" y="3346704"/>
            <a:ext cx="3749040" cy="347472"/>
          </a:xfrm>
          <a:prstGeom prst="rect">
            <a:avLst/>
          </a:prstGeom>
          <a:solidFill>
            <a:srgbClr val="F9FAFB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389120" y="334670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Debt — what it would cost to modernize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48640" y="3694176"/>
            <a:ext cx="37490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40080" y="369417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without quantification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297680" y="3694176"/>
            <a:ext cx="37490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389120" y="369417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+ quantification — what, how urgent, what it costs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48640" y="4800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We'll walk through an assessment live — 24 questions, two actionable quadrants.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04672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18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Portfolio Intelligence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building reports. Start asking questions.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16128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are we spending on databases across all departments?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vendor spend across IT Services and Cost Bundles, rolls up by vendor.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80136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contracts expire in the next 90 days?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0574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contract lifecycle data, flags renewals due by date range.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244144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our total IT spend by workspace?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6974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Aggregates cost data across both cost channels, grouped by portfolio.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308152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me applications with end-of-support technology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3375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Cross-references technology tags with lifecycle reference dates.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8640" y="372160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vendors have the most applications?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39776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application-to-vendor relationships across the entire portfolio.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8640" y="44119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question runs against your live data — not a static export. Answers in seconds, not days.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4691743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these queries live against your portfolio in the demo.  Run AI Evals as required.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04672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18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— Today vs NextGen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3749040" cy="347472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Have Today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297680" y="914400"/>
            <a:ext cx="3749040" cy="34747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389120" y="91440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NextGen Delivers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261872"/>
            <a:ext cx="3749040" cy="347472"/>
          </a:xfrm>
          <a:prstGeom prst="rect">
            <a:avLst/>
          </a:prstGeom>
          <a:solidFill>
            <a:srgbClr val="F9FAFB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26187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filtering and report building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297680" y="1261872"/>
            <a:ext cx="3749040" cy="347472"/>
          </a:xfrm>
          <a:prstGeom prst="rect">
            <a:avLst/>
          </a:prstGeom>
          <a:solidFill>
            <a:srgbClr val="F9FAFB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389120" y="126187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questions in plain English — answers in seconds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1609344"/>
            <a:ext cx="37490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40080" y="160934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AI capability on “auto fill”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297680" y="1609344"/>
            <a:ext cx="37490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389120" y="160934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AI tools query costs, vendors, contracts, technology, and portfolio data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8640" y="1956816"/>
            <a:ext cx="3749040" cy="347472"/>
          </a:xfrm>
          <a:prstGeom prst="rect">
            <a:avLst/>
          </a:prstGeom>
          <a:solidFill>
            <a:srgbClr val="F9FAFB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" y="195681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exports for analysis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97680" y="1956816"/>
            <a:ext cx="3749040" cy="347472"/>
          </a:xfrm>
          <a:prstGeom prst="rect">
            <a:avLst/>
          </a:prstGeom>
          <a:solidFill>
            <a:srgbClr val="F9FAFB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389120" y="195681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query runs against live data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48640" y="4800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these queries live against your portfolio in the demo.  Run AI Evals as required.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04672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18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Health &amp; Lifecycle Intelligence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AI-augmented service that runs out of the box — tag your technology, and NextGen does the rest.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You Tag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286000" y="1371600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database, OS, runtime, or web server on each application.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We Match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286000" y="1783080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lifecycle lookup — EOL, EOS, support dates from 76+ vendor references.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21945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We Alert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286000" y="2194560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highlights applications running on end-of-support technology.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26060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You Act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286000" y="2606040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modernization using risk data that's always up to date.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320040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AI-Augmented Intelligence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566160" y="32004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Pre-loaded with 76+ vendor lifecycle references. AI-assisted lookup when data doesn't exist. Similar services (Flexera, Snow) typically cost $20K–$100K+/year. Included with NextGen.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8640" y="370332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Health Dashboard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566160" y="37033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lifecycle status, vendor, or category. Spot end-of-support exposure at a glance.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48640" y="42062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 Intelligence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566160" y="42062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implied technology standards from your deployments. Assert them or flag deviations.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48640" y="4800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We'll show you which of your applications are running on end-of-support technology — detected automatically.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04672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18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Health — Today vs NextGen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3749040" cy="347472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Have Today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297680" y="914400"/>
            <a:ext cx="3749040" cy="34747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389120" y="91440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NextGen Delivers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261872"/>
            <a:ext cx="3749040" cy="347472"/>
          </a:xfrm>
          <a:prstGeom prst="rect">
            <a:avLst/>
          </a:prstGeom>
          <a:solidFill>
            <a:srgbClr val="F9FAFB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26187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lifecycle tracking — someone looks it up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297680" y="1261872"/>
            <a:ext cx="3749040" cy="347472"/>
          </a:xfrm>
          <a:prstGeom prst="rect">
            <a:avLst/>
          </a:prstGeom>
          <a:solidFill>
            <a:srgbClr val="F9FAFB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389120" y="126187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lookup from 76+ pre-loaded vendor references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1609344"/>
            <a:ext cx="37490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160934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end-of-life database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297680" y="1609344"/>
            <a:ext cx="37490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389120" y="160934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EOL/EOS dates with days-to-expiry computed automatically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8640" y="1956816"/>
            <a:ext cx="3749040" cy="347472"/>
          </a:xfrm>
          <a:prstGeom prst="rect">
            <a:avLst/>
          </a:prstGeom>
          <a:solidFill>
            <a:srgbClr val="F9FAFB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" y="195681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technology health dashboard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97680" y="1956816"/>
            <a:ext cx="3749040" cy="347472"/>
          </a:xfrm>
          <a:prstGeom prst="rect">
            <a:avLst/>
          </a:prstGeom>
          <a:solidFill>
            <a:srgbClr val="F9FAFB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389120" y="195681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lifecycle status, vendor, or category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8640" y="2304288"/>
            <a:ext cx="37490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080" y="230428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standards detection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297680" y="2304288"/>
            <a:ext cx="37490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389120" y="230428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 Intelligence — implied standards from what's deployed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8640" y="4800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We'll show you which of your applications are running on end-of-support technology — detected automatically.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04672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18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Security, Compliance &amp; Access Controls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Enterprise-grade security built into every layer — not bolted on after the fact.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426301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OAuth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651760" y="137160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and Google OAuth with Entra ID. Authenticate with the identity provider you trust.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93901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SOC2-Ready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651760" y="187452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SOC2 Type II compliance. One-command evidence generation. Audit-ready from day one.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2438944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Residency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651760" y="237744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data lives where you need it. Canada today. US and EU on demand.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2985951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651760" y="288036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change logged with user, timestamp, before/after state. Searchable with CSV export.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347472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role levels per workspace: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3749040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Admin:  Full control over portfolio, users, settings.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31520" y="3950208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Editor:  Create and modify applications, assessments, costs. Current path for app owners.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31520" y="4151376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Steward (Q2):  Per-application scoping. Invite owners to assess only their apps.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31520" y="4352544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Viewer:  Read-only across the portfolio.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31520" y="4553712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Restricted (Q2):  Read-only, limited to assigned applications only.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48640" y="4800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discuss your identity provider requirements and plan who gets invited first.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04672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18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Access — Today vs NextGen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3749040" cy="347472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Have Today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297680" y="914400"/>
            <a:ext cx="3749040" cy="34747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389120" y="91440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NextGen Delivers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261872"/>
            <a:ext cx="3749040" cy="347472"/>
          </a:xfrm>
          <a:prstGeom prst="rect">
            <a:avLst/>
          </a:prstGeom>
          <a:solidFill>
            <a:srgbClr val="F9FAFB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26187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 and password only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297680" y="1261872"/>
            <a:ext cx="3749040" cy="347472"/>
          </a:xfrm>
          <a:prstGeom prst="rect">
            <a:avLst/>
          </a:prstGeom>
          <a:solidFill>
            <a:srgbClr val="F9FAFB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389120" y="126187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OAuth with Microsoft Entra ID and Google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1609344"/>
            <a:ext cx="37490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160934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audit trail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297680" y="1609344"/>
            <a:ext cx="37490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389120" y="160934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change logged with user, timestamp, before/after state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8640" y="1956816"/>
            <a:ext cx="3749040" cy="347472"/>
          </a:xfrm>
          <a:prstGeom prst="rect">
            <a:avLst/>
          </a:prstGeom>
          <a:solidFill>
            <a:srgbClr val="F9FAFB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" y="195681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access — admin or user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97680" y="1956816"/>
            <a:ext cx="3749040" cy="347472"/>
          </a:xfrm>
          <a:prstGeom prst="rect">
            <a:avLst/>
          </a:prstGeom>
          <a:solidFill>
            <a:srgbClr val="F9FAFB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389120" y="195681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role levels — Admin, Editor, Steward, Viewer, Restricted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8640" y="2304288"/>
            <a:ext cx="37490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080" y="230428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 residency controls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297680" y="2304288"/>
            <a:ext cx="37490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389120" y="230428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Residency by Design — Canada today, US/EU on demand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8640" y="4800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discuss your identity provider requirements and plan who gets invited first.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04672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18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CSDM-Ready Data Model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application data follows an industry-standard Common Service Data Model — structured for ITSM integration from the moment you enter it.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Industry-Standard Model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Application, Business Service, Technical Service, and Deployment entities follow the CSDM. Structured to integrate with any CSDM-compliant ITSM platform.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Data, Ready to Integrate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5603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you're ready, your data migrates cleanly. No transformation scripts. No consulting engagement. GetInSync is the on-ramp.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310896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Managed Catalogs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33832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Service (14 types), Software Product (12 categories), Technology Product (16 categories). Structured reference data keeps your portfolio consistent.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4800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data in the new structure; we'll show you the mapping.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04672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18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CSDM — Today vs NextGen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3749040" cy="347472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Have Today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297680" y="914400"/>
            <a:ext cx="3749040" cy="34747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389120" y="91440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NextGen Delivers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261872"/>
            <a:ext cx="3749040" cy="347472"/>
          </a:xfrm>
          <a:prstGeom prst="rect">
            <a:avLst/>
          </a:prstGeom>
          <a:solidFill>
            <a:srgbClr val="F9FAFB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26187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application records — no service model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297680" y="1261872"/>
            <a:ext cx="3749040" cy="347472"/>
          </a:xfrm>
          <a:prstGeom prst="rect">
            <a:avLst/>
          </a:prstGeom>
          <a:solidFill>
            <a:srgbClr val="F9FAFB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389120" y="126187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CSDM-aligned — Application, Business Service, Technical Service, Deployment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1609344"/>
            <a:ext cx="37490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160934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managed catalogs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297680" y="1609344"/>
            <a:ext cx="37490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389120" y="160934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catalogs — IT Service (14), Software Product (12), Technology Product (16)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8640" y="1956816"/>
            <a:ext cx="3749040" cy="347472"/>
          </a:xfrm>
          <a:prstGeom prst="rect">
            <a:avLst/>
          </a:prstGeom>
          <a:solidFill>
            <a:srgbClr val="F9FAFB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" y="195681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ITSM integration path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97680" y="1956816"/>
            <a:ext cx="3749040" cy="347472"/>
          </a:xfrm>
          <a:prstGeom prst="rect">
            <a:avLst/>
          </a:prstGeom>
          <a:solidFill>
            <a:srgbClr val="F9FAFB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389120" y="195681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structured for any CSDM-compliant ITSM platform from day one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48640" y="4800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data in the new structure; we'll show you the mapping.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04672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18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2303</Words>
  <Application>Microsoft Macintosh PowerPoint</Application>
  <PresentationFormat>On-screen Show (16:9)</PresentationFormat>
  <Paragraphs>279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GetInSync NextGen — City of Garland</dc:title>
  <dc:subject>PptxGenJS Presentation</dc:subject>
  <dc:creator>Stuart Holtby</dc:creator>
  <cp:lastModifiedBy>Stuart Holtby</cp:lastModifiedBy>
  <cp:revision>2</cp:revision>
  <dcterms:created xsi:type="dcterms:W3CDTF">2026-04-14T15:39:52Z</dcterms:created>
  <dcterms:modified xsi:type="dcterms:W3CDTF">2026-04-14T16:27:30Z</dcterms:modified>
</cp:coreProperties>
</file>